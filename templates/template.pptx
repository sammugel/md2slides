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3001"/>
    <p:restoredTop sz="96966"/>
  </p:normalViewPr>
  <p:slideViewPr>
    <p:cSldViewPr snapToGrid="0" snapToObjects="1">
      <p:cViewPr varScale="1">
        <p:scale>
          <a:sx n="151" d="100"/>
          <a:sy n="151" d="100"/>
        </p:scale>
        <p:origin x="23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11417"/>
                </a:solidFill>
                <a:latin typeface="Montserrat"/>
              </a:rPr>
              <a:t>GPU investment and revenues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404040"/>
                </a:solidFill>
                <a:latin typeface="Open Sans"/>
              </a:rPr>
              <a:t>2026-02-06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prelude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until now: tech has done everything sales asks for</a:t>
            </a: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here:</a:t>
            </a:r>
          </a:p>
          <a:p>
            <a:pPr lvl="1">
              <a:spcAft>
                <a:spcPts val="900"/>
              </a:spcAft>
              <a:buAutoNum type="arabicPeriod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I'll present what investment that represents</a:t>
            </a:r>
          </a:p>
          <a:p>
            <a:pPr lvl="1">
              <a:spcAft>
                <a:spcPts val="900"/>
              </a:spcAft>
              <a:buAutoNum type="arabicPeriod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we'</a:t>
            </a:r>
            <a:r>
              <a:rPr lang="en-CA" b="0" i="0" dirty="0">
                <a:solidFill>
                  <a:srgbClr val="111417"/>
                </a:solidFill>
                <a:latin typeface="Open Sans"/>
              </a:rPr>
              <a:t>l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l see what we need from sales to make that possible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what do we need to do to be successful as a company?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18099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self owned model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large coding model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new versions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etc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111417"/>
                </a:solidFill>
                <a:latin typeface="Open Sans"/>
              </a:rPr>
              <a:t>Can move approx 20% of this to HPCs</a:t>
            </a:r>
          </a:p>
        </p:txBody>
      </p:sp>
      <p:pic>
        <p:nvPicPr>
          <p:cNvPr id="4" name="Picture 3" descr="portfol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891" y="1438209"/>
            <a:ext cx="7335022" cy="4000390"/>
          </a:xfrm>
          <a:prstGeom prst="rect">
            <a:avLst/>
          </a:prstGeom>
        </p:spPr>
      </p:pic>
      <p:pic>
        <p:nvPicPr>
          <p:cNvPr id="5" name="Picture 4" descr="multi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what investment does this represent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how much extra do we need?</a:t>
            </a: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what cost? 15M</a:t>
            </a:r>
          </a:p>
          <a:p>
            <a:pPr lvl="1">
              <a:spcAft>
                <a:spcPts val="900"/>
              </a:spcAft>
              <a:buChar char="–"/>
            </a:pPr>
            <a:r>
              <a:rPr sz="1800" dirty="0">
                <a:solidFill>
                  <a:srgbClr val="404040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404040"/>
                </a:solidFill>
                <a:latin typeface="Open Sans"/>
              </a:rPr>
              <a:t>2M / text Multiverse original (4)</a:t>
            </a:r>
          </a:p>
          <a:p>
            <a:pPr lvl="1">
              <a:spcAft>
                <a:spcPts val="900"/>
              </a:spcAft>
              <a:buChar char="–"/>
            </a:pPr>
            <a:r>
              <a:rPr sz="1800" dirty="0">
                <a:solidFill>
                  <a:srgbClr val="404040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404040"/>
                </a:solidFill>
                <a:latin typeface="Open Sans"/>
              </a:rPr>
              <a:t>0.5M for derivatives (8) &amp; upgrades (6)</a:t>
            </a: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proposal: find a commercial contract to match this cost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what custom models does sales need?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currently mobilized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64 nodes for AWS + HP (compression)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23 nodes for API (16 active)</a:t>
            </a: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blocked:</a:t>
            </a:r>
            <a:r>
              <a:rPr lang="en-CA" sz="1800" b="0" i="0" dirty="0">
                <a:solidFill>
                  <a:srgbClr val="111417"/>
                </a:solidFill>
                <a:latin typeface="Open Sans"/>
              </a:rPr>
              <a:t> </a:t>
            </a:r>
            <a:r>
              <a:rPr lang="en-CA" sz="1800" b="1" i="0" dirty="0">
                <a:solidFill>
                  <a:srgbClr val="111417"/>
                </a:solidFill>
                <a:latin typeface="Open Sans"/>
              </a:rPr>
              <a:t>€57M revenue</a:t>
            </a:r>
            <a:endParaRPr sz="1800" b="1" i="0" dirty="0">
              <a:solidFill>
                <a:srgbClr val="111417"/>
              </a:solidFill>
              <a:latin typeface="Open Sans"/>
            </a:endParaRP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whisper, GLM 4.7, </a:t>
            </a:r>
            <a:r>
              <a:rPr b="0" i="0" dirty="0" err="1">
                <a:solidFill>
                  <a:srgbClr val="111417"/>
                </a:solidFill>
                <a:latin typeface="Open Sans"/>
              </a:rPr>
              <a:t>nemotron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, ...</a:t>
            </a:r>
            <a:endParaRPr lang="en-CA" b="0" i="0" dirty="0">
              <a:solidFill>
                <a:srgbClr val="111417"/>
              </a:solidFill>
              <a:latin typeface="Open Sans"/>
            </a:endParaRPr>
          </a:p>
          <a:p>
            <a:pPr lvl="1"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also: any specialized models</a:t>
            </a: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need: 56 nodes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demand from sales right now: 120 nodes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= 7 medium models in parallel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= 50 custom models in 2026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let's be more selective: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= 4 medium models in parallel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need: 64 nodes =&gt; no need for new GPUs</a:t>
            </a:r>
          </a:p>
          <a:p>
            <a:pPr lvl="1">
              <a:spcAft>
                <a:spcPts val="900"/>
              </a:spcAft>
              <a:buChar char="•"/>
            </a:pPr>
            <a:r>
              <a:rPr dirty="0">
                <a:solidFill>
                  <a:srgbClr val="111417"/>
                </a:solidFill>
                <a:latin typeface="Open Sans"/>
              </a:rPr>
              <a:t>    </a:t>
            </a:r>
            <a:r>
              <a:rPr b="0" i="0" dirty="0">
                <a:solidFill>
                  <a:srgbClr val="111417"/>
                </a:solidFill>
                <a:latin typeface="Open Sans"/>
              </a:rPr>
              <a:t>need: 23 nodes for API =&gt; no need for new GPUs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2026 GPU commit needed: </a:t>
            </a:r>
            <a:r>
              <a:rPr lang="en-CA" sz="1800" b="0" i="0" strike="sngStrike" dirty="0">
                <a:solidFill>
                  <a:srgbClr val="111417"/>
                </a:solidFill>
                <a:latin typeface="Open Sans"/>
              </a:rPr>
              <a:t>15M / year</a:t>
            </a:r>
            <a:endParaRPr sz="1800" b="0" i="0" strike="sngStrike" dirty="0">
              <a:solidFill>
                <a:srgbClr val="111417"/>
              </a:solidFill>
              <a:latin typeface="Open Sans"/>
            </a:endParaRPr>
          </a:p>
          <a:p>
            <a:pPr>
              <a:spcAft>
                <a:spcPts val="900"/>
              </a:spcAft>
              <a:buChar char="•"/>
            </a:pPr>
            <a:r>
              <a:rPr sz="1800" dirty="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 dirty="0">
                <a:solidFill>
                  <a:srgbClr val="111417"/>
                </a:solidFill>
                <a:latin typeface="Open Sans"/>
              </a:rPr>
              <a:t>Need sales to secure a commercial contract to match this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How frequently are we renewing our models?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2x upgrades per year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which models are multiverse original?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all of them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need to build the technology to generate a new embedding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how much overlap between what sales will ask us to do &amp; our portfolio roadmap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what cost? 15M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2M / text Multiverse original (4)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0.5M for derivatives (8) &amp; upgrades (6)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17"/>
                </a:solidFill>
                <a:latin typeface="Montserrat"/>
              </a:rPr>
              <a:t>include this spend into projected GPU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current process</a:t>
            </a:r>
          </a:p>
          <a:p>
            <a:pPr>
              <a:spcAft>
                <a:spcPts val="900"/>
              </a:spcAft>
              <a:buAutoNum type="arabicPeriod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sales secures opportunity</a:t>
            </a:r>
          </a:p>
          <a:p>
            <a:pPr>
              <a:spcAft>
                <a:spcPts val="900"/>
              </a:spcAft>
              <a:buAutoNum type="arabicPeriod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sales get budget approved for GPUs (on demand)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make some projections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how much are we spending on this this year?</a:t>
            </a:r>
          </a:p>
          <a:p>
            <a:pPr>
              <a:spcAft>
                <a:spcPts val="900"/>
              </a:spcAft>
              <a:buChar char="•"/>
            </a:pPr>
            <a:r>
              <a:rPr sz="1800">
                <a:solidFill>
                  <a:srgbClr val="111417"/>
                </a:solidFill>
                <a:latin typeface="Open Sans"/>
              </a:rPr>
              <a:t>    </a:t>
            </a:r>
            <a:r>
              <a:rPr sz="1800" b="0" i="0">
                <a:solidFill>
                  <a:srgbClr val="111417"/>
                </a:solidFill>
                <a:latin typeface="Open Sans"/>
              </a:rPr>
              <a:t>what would be the cost (and savings) for GPUs if we commit?</a:t>
            </a:r>
          </a:p>
        </p:txBody>
      </p:sp>
      <p:pic>
        <p:nvPicPr>
          <p:cNvPr id="4" name="Picture 3" descr="multi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35" y="5897880"/>
            <a:ext cx="2880360" cy="462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400</Words>
  <Application>Microsoft Macintosh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 Mugel</cp:lastModifiedBy>
  <cp:revision>6</cp:revision>
  <dcterms:created xsi:type="dcterms:W3CDTF">2013-01-27T09:14:16Z</dcterms:created>
  <dcterms:modified xsi:type="dcterms:W3CDTF">2026-02-07T13:11:15Z</dcterms:modified>
  <cp:category/>
</cp:coreProperties>
</file>